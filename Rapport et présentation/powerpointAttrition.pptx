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nton" charset="1" panose="00000500000000000000"/>
      <p:regular r:id="rId23"/>
    </p:embeddedFont>
    <p:embeddedFont>
      <p:font typeface="Agrandir Bold" charset="1" panose="00000800000000000000"/>
      <p:regular r:id="rId24"/>
    </p:embeddedFont>
    <p:embeddedFont>
      <p:font typeface="Agrandir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8670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0" y="0"/>
                </a:moveTo>
                <a:lnTo>
                  <a:pt x="3590163" y="0"/>
                </a:lnTo>
                <a:lnTo>
                  <a:pt x="35901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3590163" y="0"/>
                </a:moveTo>
                <a:lnTo>
                  <a:pt x="0" y="0"/>
                </a:lnTo>
                <a:lnTo>
                  <a:pt x="0" y="8229600"/>
                </a:lnTo>
                <a:lnTo>
                  <a:pt x="3590163" y="8229600"/>
                </a:lnTo>
                <a:lnTo>
                  <a:pt x="3590163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95082" y="2752542"/>
            <a:ext cx="14749955" cy="299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5"/>
              </a:lnSpc>
            </a:pPr>
            <a:r>
              <a:rPr lang="en-US" sz="111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PREDICTION DE L’ATRITION DES EMPLOYEES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3357" y="1000125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40436" y="9239250"/>
            <a:ext cx="5378501" cy="26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  <a:spcBef>
                <a:spcPct val="0"/>
              </a:spcBef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ENSA - KENITRA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01492" y="6943736"/>
            <a:ext cx="4482806" cy="741705"/>
            <a:chOff x="0" y="0"/>
            <a:chExt cx="1100556" cy="1820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0556" cy="182093"/>
            </a:xfrm>
            <a:custGeom>
              <a:avLst/>
              <a:gdLst/>
              <a:ahLst/>
              <a:cxnLst/>
              <a:rect r="r" b="b" t="t" l="l"/>
              <a:pathLst>
                <a:path h="182093" w="1100556">
                  <a:moveTo>
                    <a:pt x="91047" y="0"/>
                  </a:moveTo>
                  <a:lnTo>
                    <a:pt x="1009510" y="0"/>
                  </a:lnTo>
                  <a:cubicBezTo>
                    <a:pt x="1059793" y="0"/>
                    <a:pt x="1100556" y="40763"/>
                    <a:pt x="1100556" y="91047"/>
                  </a:cubicBezTo>
                  <a:lnTo>
                    <a:pt x="1100556" y="91047"/>
                  </a:lnTo>
                  <a:cubicBezTo>
                    <a:pt x="1100556" y="141330"/>
                    <a:pt x="1059793" y="182093"/>
                    <a:pt x="1009510" y="182093"/>
                  </a:cubicBezTo>
                  <a:lnTo>
                    <a:pt x="91047" y="182093"/>
                  </a:lnTo>
                  <a:cubicBezTo>
                    <a:pt x="40763" y="182093"/>
                    <a:pt x="0" y="141330"/>
                    <a:pt x="0" y="91047"/>
                  </a:cubicBezTo>
                  <a:lnTo>
                    <a:pt x="0" y="91047"/>
                  </a:lnTo>
                  <a:cubicBezTo>
                    <a:pt x="0" y="40763"/>
                    <a:pt x="40763" y="0"/>
                    <a:pt x="910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00556" cy="21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MUSTAPHA MELLAKI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01492" y="7923566"/>
            <a:ext cx="4482806" cy="741705"/>
            <a:chOff x="0" y="0"/>
            <a:chExt cx="1100556" cy="1820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0556" cy="182093"/>
            </a:xfrm>
            <a:custGeom>
              <a:avLst/>
              <a:gdLst/>
              <a:ahLst/>
              <a:cxnLst/>
              <a:rect r="r" b="b" t="t" l="l"/>
              <a:pathLst>
                <a:path h="182093" w="1100556">
                  <a:moveTo>
                    <a:pt x="91047" y="0"/>
                  </a:moveTo>
                  <a:lnTo>
                    <a:pt x="1009510" y="0"/>
                  </a:lnTo>
                  <a:cubicBezTo>
                    <a:pt x="1059793" y="0"/>
                    <a:pt x="1100556" y="40763"/>
                    <a:pt x="1100556" y="91047"/>
                  </a:cubicBezTo>
                  <a:lnTo>
                    <a:pt x="1100556" y="91047"/>
                  </a:lnTo>
                  <a:cubicBezTo>
                    <a:pt x="1100556" y="141330"/>
                    <a:pt x="1059793" y="182093"/>
                    <a:pt x="1009510" y="182093"/>
                  </a:cubicBezTo>
                  <a:lnTo>
                    <a:pt x="91047" y="182093"/>
                  </a:lnTo>
                  <a:cubicBezTo>
                    <a:pt x="40763" y="182093"/>
                    <a:pt x="0" y="141330"/>
                    <a:pt x="0" y="91047"/>
                  </a:cubicBezTo>
                  <a:lnTo>
                    <a:pt x="0" y="91047"/>
                  </a:lnTo>
                  <a:cubicBezTo>
                    <a:pt x="0" y="40763"/>
                    <a:pt x="40763" y="0"/>
                    <a:pt x="910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100556" cy="21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MEHDI BAHI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32272" y="7439220"/>
            <a:ext cx="4482806" cy="741705"/>
            <a:chOff x="0" y="0"/>
            <a:chExt cx="1100556" cy="1820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0556" cy="182093"/>
            </a:xfrm>
            <a:custGeom>
              <a:avLst/>
              <a:gdLst/>
              <a:ahLst/>
              <a:cxnLst/>
              <a:rect r="r" b="b" t="t" l="l"/>
              <a:pathLst>
                <a:path h="182093" w="1100556">
                  <a:moveTo>
                    <a:pt x="91047" y="0"/>
                  </a:moveTo>
                  <a:lnTo>
                    <a:pt x="1009510" y="0"/>
                  </a:lnTo>
                  <a:cubicBezTo>
                    <a:pt x="1059793" y="0"/>
                    <a:pt x="1100556" y="40763"/>
                    <a:pt x="1100556" y="91047"/>
                  </a:cubicBezTo>
                  <a:lnTo>
                    <a:pt x="1100556" y="91047"/>
                  </a:lnTo>
                  <a:cubicBezTo>
                    <a:pt x="1100556" y="141330"/>
                    <a:pt x="1059793" y="182093"/>
                    <a:pt x="1009510" y="182093"/>
                  </a:cubicBezTo>
                  <a:lnTo>
                    <a:pt x="91047" y="182093"/>
                  </a:lnTo>
                  <a:cubicBezTo>
                    <a:pt x="40763" y="182093"/>
                    <a:pt x="0" y="141330"/>
                    <a:pt x="0" y="91047"/>
                  </a:cubicBezTo>
                  <a:lnTo>
                    <a:pt x="0" y="91047"/>
                  </a:lnTo>
                  <a:cubicBezTo>
                    <a:pt x="0" y="40763"/>
                    <a:pt x="40763" y="0"/>
                    <a:pt x="910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100556" cy="21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PROF. D. BENJBARA CHAIMAE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9859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0" y="0"/>
                </a:moveTo>
                <a:lnTo>
                  <a:pt x="3940747" y="0"/>
                </a:lnTo>
                <a:lnTo>
                  <a:pt x="39407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63327" y="2686274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PROBLEMATIQUE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3541127" y="4071944"/>
            <a:ext cx="3940747" cy="4114800"/>
          </a:xfrm>
          <a:custGeom>
            <a:avLst/>
            <a:gdLst/>
            <a:ahLst/>
            <a:cxnLst/>
            <a:rect r="r" b="b" t="t" l="l"/>
            <a:pathLst>
              <a:path h="4114800" w="3940747">
                <a:moveTo>
                  <a:pt x="3940747" y="0"/>
                </a:moveTo>
                <a:lnTo>
                  <a:pt x="0" y="0"/>
                </a:lnTo>
                <a:lnTo>
                  <a:pt x="0" y="4114800"/>
                </a:lnTo>
                <a:lnTo>
                  <a:pt x="3940747" y="4114800"/>
                </a:lnTo>
                <a:lnTo>
                  <a:pt x="394074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37629" y="4578205"/>
            <a:ext cx="7787044" cy="220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L’attrition des employés représente un défi majeur pour les organisa</a:t>
            </a:r>
            <a:r>
              <a:rPr lang="en-US" sz="25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tions modernes. Elle désigne le départ volontaire ou involontaire d’employés de l’entreprise, entraînant des coûts directs et indirects considérables.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3357" y="1000125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63327" y="7950841"/>
            <a:ext cx="7561347" cy="5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3999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POURQUOI PRÉDIRE L’ATTRITION ?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70637" y="9648303"/>
            <a:ext cx="160734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6941" y="1991880"/>
            <a:ext cx="2577268" cy="2691100"/>
          </a:xfrm>
          <a:custGeom>
            <a:avLst/>
            <a:gdLst/>
            <a:ahLst/>
            <a:cxnLst/>
            <a:rect r="r" b="b" t="t" l="l"/>
            <a:pathLst>
              <a:path h="2691100" w="2577268">
                <a:moveTo>
                  <a:pt x="0" y="0"/>
                </a:moveTo>
                <a:lnTo>
                  <a:pt x="2577268" y="0"/>
                </a:lnTo>
                <a:lnTo>
                  <a:pt x="2577268" y="2691100"/>
                </a:lnTo>
                <a:lnTo>
                  <a:pt x="0" y="2691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52409" y="2574121"/>
            <a:ext cx="10783182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PROBLEMATIQUE SCIENTIFIQUE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5560564" y="1864521"/>
            <a:ext cx="2508773" cy="2619580"/>
          </a:xfrm>
          <a:custGeom>
            <a:avLst/>
            <a:gdLst/>
            <a:ahLst/>
            <a:cxnLst/>
            <a:rect r="r" b="b" t="t" l="l"/>
            <a:pathLst>
              <a:path h="2619580" w="2508773">
                <a:moveTo>
                  <a:pt x="2508773" y="0"/>
                </a:moveTo>
                <a:lnTo>
                  <a:pt x="0" y="0"/>
                </a:lnTo>
                <a:lnTo>
                  <a:pt x="0" y="2619580"/>
                </a:lnTo>
                <a:lnTo>
                  <a:pt x="2508773" y="2619580"/>
                </a:lnTo>
                <a:lnTo>
                  <a:pt x="250877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6970" y="4578205"/>
            <a:ext cx="14254061" cy="408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5894" indent="-287947" lvl="1">
              <a:lnSpc>
                <a:spcPts val="3574"/>
              </a:lnSpc>
              <a:buFont typeface="Arial"/>
              <a:buChar char="•"/>
            </a:pPr>
            <a:r>
              <a:rPr lang="en-US" b="true" sz="26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Question centrale :</a:t>
            </a:r>
            <a:r>
              <a:rPr lang="en-US" sz="2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Peut-on prédire, à par</a:t>
            </a:r>
            <a:r>
              <a:rPr lang="en-US" sz="2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tir des données démographiques, professionnelles et de satisfaction, si un employé risque de quitter l’entreprise afin d’éclairer les décisions en ressources humaines ?</a:t>
            </a:r>
          </a:p>
          <a:p>
            <a:pPr algn="just">
              <a:lnSpc>
                <a:spcPts val="3574"/>
              </a:lnSpc>
            </a:pPr>
            <a:r>
              <a:rPr lang="en-US" sz="2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  <a:p>
            <a:pPr algn="just" marL="575894" indent="-287947" lvl="1">
              <a:lnSpc>
                <a:spcPts val="3574"/>
              </a:lnSpc>
              <a:buFont typeface="Arial"/>
              <a:buChar char="•"/>
            </a:pPr>
            <a:r>
              <a:rPr lang="en-US" b="true" sz="26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Type de problème : </a:t>
            </a:r>
            <a:r>
              <a:rPr lang="en-US" sz="2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Classification binaire supervisée (Attrition : Oui=1, Non=0)</a:t>
            </a:r>
          </a:p>
          <a:p>
            <a:pPr algn="just">
              <a:lnSpc>
                <a:spcPts val="3574"/>
              </a:lnSpc>
            </a:pPr>
          </a:p>
          <a:p>
            <a:pPr algn="just" marL="575894" indent="-287947" lvl="1">
              <a:lnSpc>
                <a:spcPts val="3574"/>
              </a:lnSpc>
              <a:buFont typeface="Arial"/>
              <a:buChar char="•"/>
            </a:pPr>
            <a:r>
              <a:rPr lang="en-US" b="true" sz="26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Enjeu Central : </a:t>
            </a:r>
            <a:r>
              <a:rPr lang="en-US" sz="26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Ce projet transcende l’exercice technique. Il s’agit d’analyser l’impact des facteurs organisationnels, managériaux et individuels pour appuyer la prise de décision stratégique en ressources humaines.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3357" y="1000125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69149" y="9648303"/>
            <a:ext cx="163711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62930" y="2893222"/>
            <a:ext cx="7132301" cy="989754"/>
            <a:chOff x="0" y="0"/>
            <a:chExt cx="1751023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1023" cy="242991"/>
            </a:xfrm>
            <a:custGeom>
              <a:avLst/>
              <a:gdLst/>
              <a:ahLst/>
              <a:cxnLst/>
              <a:rect r="r" b="b" t="t" l="l"/>
              <a:pathLst>
                <a:path h="242991" w="1751023">
                  <a:moveTo>
                    <a:pt x="108547" y="0"/>
                  </a:moveTo>
                  <a:lnTo>
                    <a:pt x="1642476" y="0"/>
                  </a:lnTo>
                  <a:cubicBezTo>
                    <a:pt x="1671265" y="0"/>
                    <a:pt x="1698874" y="11436"/>
                    <a:pt x="1719231" y="31793"/>
                  </a:cubicBezTo>
                  <a:cubicBezTo>
                    <a:pt x="1739587" y="52149"/>
                    <a:pt x="1751023" y="79759"/>
                    <a:pt x="1751023" y="108547"/>
                  </a:cubicBezTo>
                  <a:lnTo>
                    <a:pt x="1751023" y="134443"/>
                  </a:lnTo>
                  <a:cubicBezTo>
                    <a:pt x="1751023" y="163232"/>
                    <a:pt x="1739587" y="190841"/>
                    <a:pt x="1719231" y="211198"/>
                  </a:cubicBezTo>
                  <a:cubicBezTo>
                    <a:pt x="1698874" y="231555"/>
                    <a:pt x="1671265" y="242991"/>
                    <a:pt x="1642476" y="242991"/>
                  </a:cubicBezTo>
                  <a:lnTo>
                    <a:pt x="108547" y="242991"/>
                  </a:lnTo>
                  <a:cubicBezTo>
                    <a:pt x="79759" y="242991"/>
                    <a:pt x="52149" y="231555"/>
                    <a:pt x="31793" y="211198"/>
                  </a:cubicBezTo>
                  <a:cubicBezTo>
                    <a:pt x="11436" y="190841"/>
                    <a:pt x="0" y="163232"/>
                    <a:pt x="0" y="134443"/>
                  </a:cubicBezTo>
                  <a:lnTo>
                    <a:pt x="0" y="108547"/>
                  </a:lnTo>
                  <a:cubicBezTo>
                    <a:pt x="0" y="79759"/>
                    <a:pt x="11436" y="52149"/>
                    <a:pt x="31793" y="31793"/>
                  </a:cubicBezTo>
                  <a:cubicBezTo>
                    <a:pt x="52149" y="11436"/>
                    <a:pt x="79759" y="0"/>
                    <a:pt x="1085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751023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STRUCTURATION DES DONNEES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2267" y="3215540"/>
            <a:ext cx="5048616" cy="5048616"/>
          </a:xfrm>
          <a:custGeom>
            <a:avLst/>
            <a:gdLst/>
            <a:ahLst/>
            <a:cxnLst/>
            <a:rect r="r" b="b" t="t" l="l"/>
            <a:pathLst>
              <a:path h="5048616" w="5048616">
                <a:moveTo>
                  <a:pt x="0" y="0"/>
                </a:moveTo>
                <a:lnTo>
                  <a:pt x="5048616" y="0"/>
                </a:lnTo>
                <a:lnTo>
                  <a:pt x="5048616" y="5048616"/>
                </a:lnTo>
                <a:lnTo>
                  <a:pt x="0" y="504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07504" y="5344070"/>
            <a:ext cx="1838141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PLAN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562930" y="2893222"/>
            <a:ext cx="1081897" cy="989754"/>
            <a:chOff x="0" y="0"/>
            <a:chExt cx="265612" cy="242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847478" y="306837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62930" y="4362726"/>
            <a:ext cx="7973405" cy="989754"/>
            <a:chOff x="0" y="0"/>
            <a:chExt cx="1957519" cy="242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7519" cy="242991"/>
            </a:xfrm>
            <a:custGeom>
              <a:avLst/>
              <a:gdLst/>
              <a:ahLst/>
              <a:cxnLst/>
              <a:rect r="r" b="b" t="t" l="l"/>
              <a:pathLst>
                <a:path h="242991" w="1957519">
                  <a:moveTo>
                    <a:pt x="97097" y="0"/>
                  </a:moveTo>
                  <a:lnTo>
                    <a:pt x="1860423" y="0"/>
                  </a:lnTo>
                  <a:cubicBezTo>
                    <a:pt x="1886174" y="0"/>
                    <a:pt x="1910871" y="10230"/>
                    <a:pt x="1929081" y="28439"/>
                  </a:cubicBezTo>
                  <a:cubicBezTo>
                    <a:pt x="1947290" y="46648"/>
                    <a:pt x="1957519" y="71345"/>
                    <a:pt x="1957519" y="97097"/>
                  </a:cubicBezTo>
                  <a:lnTo>
                    <a:pt x="1957519" y="145894"/>
                  </a:lnTo>
                  <a:cubicBezTo>
                    <a:pt x="1957519" y="199519"/>
                    <a:pt x="1914048" y="242991"/>
                    <a:pt x="1860423" y="242991"/>
                  </a:cubicBezTo>
                  <a:lnTo>
                    <a:pt x="97097" y="242991"/>
                  </a:lnTo>
                  <a:cubicBezTo>
                    <a:pt x="43472" y="242991"/>
                    <a:pt x="0" y="199519"/>
                    <a:pt x="0" y="145894"/>
                  </a:cubicBezTo>
                  <a:lnTo>
                    <a:pt x="0" y="97097"/>
                  </a:lnTo>
                  <a:cubicBezTo>
                    <a:pt x="0" y="43472"/>
                    <a:pt x="43472" y="0"/>
                    <a:pt x="970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957519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STRATÉGIE D’ÉVALUATION DU MODÈLE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62930" y="4353615"/>
            <a:ext cx="1081897" cy="989754"/>
            <a:chOff x="0" y="0"/>
            <a:chExt cx="265612" cy="242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847478" y="452876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62930" y="5814008"/>
            <a:ext cx="8603764" cy="989754"/>
            <a:chOff x="0" y="0"/>
            <a:chExt cx="2112276" cy="242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12276" cy="242991"/>
            </a:xfrm>
            <a:custGeom>
              <a:avLst/>
              <a:gdLst/>
              <a:ahLst/>
              <a:cxnLst/>
              <a:rect r="r" b="b" t="t" l="l"/>
              <a:pathLst>
                <a:path h="242991" w="2112276">
                  <a:moveTo>
                    <a:pt x="89983" y="0"/>
                  </a:moveTo>
                  <a:lnTo>
                    <a:pt x="2022294" y="0"/>
                  </a:lnTo>
                  <a:cubicBezTo>
                    <a:pt x="2046158" y="0"/>
                    <a:pt x="2069046" y="9480"/>
                    <a:pt x="2085921" y="26355"/>
                  </a:cubicBezTo>
                  <a:cubicBezTo>
                    <a:pt x="2102796" y="43230"/>
                    <a:pt x="2112276" y="66118"/>
                    <a:pt x="2112276" y="89983"/>
                  </a:cubicBezTo>
                  <a:lnTo>
                    <a:pt x="2112276" y="153008"/>
                  </a:lnTo>
                  <a:cubicBezTo>
                    <a:pt x="2112276" y="176873"/>
                    <a:pt x="2102796" y="199760"/>
                    <a:pt x="2085921" y="216635"/>
                  </a:cubicBezTo>
                  <a:cubicBezTo>
                    <a:pt x="2069046" y="233510"/>
                    <a:pt x="2046158" y="242991"/>
                    <a:pt x="2022294" y="242991"/>
                  </a:cubicBezTo>
                  <a:lnTo>
                    <a:pt x="89983" y="242991"/>
                  </a:lnTo>
                  <a:cubicBezTo>
                    <a:pt x="40287" y="242991"/>
                    <a:pt x="0" y="202704"/>
                    <a:pt x="0" y="153008"/>
                  </a:cubicBezTo>
                  <a:lnTo>
                    <a:pt x="0" y="89983"/>
                  </a:lnTo>
                  <a:cubicBezTo>
                    <a:pt x="0" y="66118"/>
                    <a:pt x="9480" y="43230"/>
                    <a:pt x="26355" y="26355"/>
                  </a:cubicBezTo>
                  <a:cubicBezTo>
                    <a:pt x="43230" y="9480"/>
                    <a:pt x="66118" y="0"/>
                    <a:pt x="899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12276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EXEMPLES DE MODÈLES DE CLASSIFICATION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62930" y="5814008"/>
            <a:ext cx="1081897" cy="989754"/>
            <a:chOff x="0" y="0"/>
            <a:chExt cx="265612" cy="242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847478" y="5989160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562930" y="7274401"/>
            <a:ext cx="9280816" cy="989754"/>
            <a:chOff x="0" y="0"/>
            <a:chExt cx="2278497" cy="242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78497" cy="242991"/>
            </a:xfrm>
            <a:custGeom>
              <a:avLst/>
              <a:gdLst/>
              <a:ahLst/>
              <a:cxnLst/>
              <a:rect r="r" b="b" t="t" l="l"/>
              <a:pathLst>
                <a:path h="242991" w="2278497">
                  <a:moveTo>
                    <a:pt x="83419" y="0"/>
                  </a:moveTo>
                  <a:lnTo>
                    <a:pt x="2195078" y="0"/>
                  </a:lnTo>
                  <a:cubicBezTo>
                    <a:pt x="2217202" y="0"/>
                    <a:pt x="2238420" y="8789"/>
                    <a:pt x="2254064" y="24433"/>
                  </a:cubicBezTo>
                  <a:cubicBezTo>
                    <a:pt x="2269708" y="40077"/>
                    <a:pt x="2278497" y="61295"/>
                    <a:pt x="2278497" y="83419"/>
                  </a:cubicBezTo>
                  <a:lnTo>
                    <a:pt x="2278497" y="159572"/>
                  </a:lnTo>
                  <a:cubicBezTo>
                    <a:pt x="2278497" y="205643"/>
                    <a:pt x="2241149" y="242991"/>
                    <a:pt x="2195078" y="242991"/>
                  </a:cubicBezTo>
                  <a:lnTo>
                    <a:pt x="83419" y="242991"/>
                  </a:lnTo>
                  <a:cubicBezTo>
                    <a:pt x="37348" y="242991"/>
                    <a:pt x="0" y="205643"/>
                    <a:pt x="0" y="159572"/>
                  </a:cubicBezTo>
                  <a:lnTo>
                    <a:pt x="0" y="83419"/>
                  </a:lnTo>
                  <a:cubicBezTo>
                    <a:pt x="0" y="37348"/>
                    <a:pt x="37348" y="0"/>
                    <a:pt x="83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278497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ÉVALUATION COMPARATIVE DE DIX (10) MODELES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62930" y="7274401"/>
            <a:ext cx="1081897" cy="989754"/>
            <a:chOff x="0" y="0"/>
            <a:chExt cx="265612" cy="2429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847478" y="7449554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04.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562930" y="8721356"/>
            <a:ext cx="10046570" cy="989754"/>
            <a:chOff x="0" y="0"/>
            <a:chExt cx="2466494" cy="2429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66494" cy="242991"/>
            </a:xfrm>
            <a:custGeom>
              <a:avLst/>
              <a:gdLst/>
              <a:ahLst/>
              <a:cxnLst/>
              <a:rect r="r" b="b" t="t" l="l"/>
              <a:pathLst>
                <a:path h="242991" w="2466494">
                  <a:moveTo>
                    <a:pt x="77060" y="0"/>
                  </a:moveTo>
                  <a:lnTo>
                    <a:pt x="2389434" y="0"/>
                  </a:lnTo>
                  <a:cubicBezTo>
                    <a:pt x="2431993" y="0"/>
                    <a:pt x="2466494" y="34501"/>
                    <a:pt x="2466494" y="77060"/>
                  </a:cubicBezTo>
                  <a:lnTo>
                    <a:pt x="2466494" y="165930"/>
                  </a:lnTo>
                  <a:cubicBezTo>
                    <a:pt x="2466494" y="186368"/>
                    <a:pt x="2458375" y="205969"/>
                    <a:pt x="2443924" y="220420"/>
                  </a:cubicBezTo>
                  <a:cubicBezTo>
                    <a:pt x="2429472" y="234872"/>
                    <a:pt x="2409872" y="242991"/>
                    <a:pt x="2389434" y="242991"/>
                  </a:cubicBezTo>
                  <a:lnTo>
                    <a:pt x="77060" y="242991"/>
                  </a:lnTo>
                  <a:cubicBezTo>
                    <a:pt x="34501" y="242991"/>
                    <a:pt x="0" y="208490"/>
                    <a:pt x="0" y="165930"/>
                  </a:cubicBezTo>
                  <a:lnTo>
                    <a:pt x="0" y="77060"/>
                  </a:lnTo>
                  <a:cubicBezTo>
                    <a:pt x="0" y="56623"/>
                    <a:pt x="8119" y="37022"/>
                    <a:pt x="22570" y="22570"/>
                  </a:cubicBezTo>
                  <a:cubicBezTo>
                    <a:pt x="37022" y="8119"/>
                    <a:pt x="56623" y="0"/>
                    <a:pt x="770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46649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INTERFACE GRAPHIQUE                                                                    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62930" y="8721356"/>
            <a:ext cx="1081897" cy="989754"/>
            <a:chOff x="0" y="0"/>
            <a:chExt cx="265612" cy="2429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847478" y="8896508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33357" y="1000125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468033" y="9648303"/>
            <a:ext cx="165943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4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872432" y="2006137"/>
            <a:ext cx="11110564" cy="7930165"/>
          </a:xfrm>
          <a:custGeom>
            <a:avLst/>
            <a:gdLst/>
            <a:ahLst/>
            <a:cxnLst/>
            <a:rect r="r" b="b" t="t" l="l"/>
            <a:pathLst>
              <a:path h="7930165" w="11110564">
                <a:moveTo>
                  <a:pt x="0" y="0"/>
                </a:moveTo>
                <a:lnTo>
                  <a:pt x="11110564" y="0"/>
                </a:lnTo>
                <a:lnTo>
                  <a:pt x="11110564" y="7930165"/>
                </a:lnTo>
                <a:lnTo>
                  <a:pt x="0" y="7930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6817" y="632923"/>
            <a:ext cx="9915533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STRUCTURATION DES DONNEES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5545" y="3317519"/>
            <a:ext cx="6646886" cy="648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IBM HR Employee Attrition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https://www.kaggle.com/datasets/pavansubhasht/ibm-hr-analytics-attrition-dataset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1,470 observations (employés)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34 variables originales : réduites à 12 variables clés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5343" y="845998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67735" y="9648303"/>
            <a:ext cx="166539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5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967210" y="1864521"/>
            <a:ext cx="10825147" cy="8422479"/>
          </a:xfrm>
          <a:custGeom>
            <a:avLst/>
            <a:gdLst/>
            <a:ahLst/>
            <a:cxnLst/>
            <a:rect r="r" b="b" t="t" l="l"/>
            <a:pathLst>
              <a:path h="8422479" w="10825147">
                <a:moveTo>
                  <a:pt x="0" y="0"/>
                </a:moveTo>
                <a:lnTo>
                  <a:pt x="10825147" y="0"/>
                </a:lnTo>
                <a:lnTo>
                  <a:pt x="10825147" y="8422479"/>
                </a:lnTo>
                <a:lnTo>
                  <a:pt x="0" y="8422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55" r="-251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6817" y="632923"/>
            <a:ext cx="9915533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STRUCTURATION DES DONNEES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5158" y="4216544"/>
            <a:ext cx="4545588" cy="239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8"/>
              </a:lnSpc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Matrice de corrélation entre les colonnes numériques du dataset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5343" y="845998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66470" y="9648303"/>
            <a:ext cx="169069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070709">
            <a:off x="-497624" y="188029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0709">
            <a:off x="14425694" y="6154422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58207" y="1934249"/>
            <a:ext cx="12171586" cy="8352751"/>
          </a:xfrm>
          <a:custGeom>
            <a:avLst/>
            <a:gdLst/>
            <a:ahLst/>
            <a:cxnLst/>
            <a:rect r="r" b="b" t="t" l="l"/>
            <a:pathLst>
              <a:path h="8352751" w="12171586">
                <a:moveTo>
                  <a:pt x="0" y="0"/>
                </a:moveTo>
                <a:lnTo>
                  <a:pt x="12171586" y="0"/>
                </a:lnTo>
                <a:lnTo>
                  <a:pt x="12171586" y="8352751"/>
                </a:lnTo>
                <a:lnTo>
                  <a:pt x="0" y="8352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6817" y="632923"/>
            <a:ext cx="9915533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STRUCTURATION DES DONNEES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5343" y="845998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81130" y="9648303"/>
            <a:ext cx="139750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7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070709">
            <a:off x="7460843" y="2829947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43669" y="3380749"/>
            <a:ext cx="7051002" cy="3525501"/>
          </a:xfrm>
          <a:custGeom>
            <a:avLst/>
            <a:gdLst/>
            <a:ahLst/>
            <a:cxnLst/>
            <a:rect r="r" b="b" t="t" l="l"/>
            <a:pathLst>
              <a:path h="3525501" w="7051002">
                <a:moveTo>
                  <a:pt x="0" y="0"/>
                </a:moveTo>
                <a:lnTo>
                  <a:pt x="7051002" y="0"/>
                </a:lnTo>
                <a:lnTo>
                  <a:pt x="7051002" y="3525502"/>
                </a:lnTo>
                <a:lnTo>
                  <a:pt x="0" y="35255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01968" y="7493238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69" y="0"/>
                </a:lnTo>
                <a:lnTo>
                  <a:pt x="41623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361950" y="-1069179"/>
            <a:ext cx="20831283" cy="3086100"/>
            <a:chOff x="0" y="0"/>
            <a:chExt cx="548642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343669" y="-144752"/>
            <a:ext cx="7051002" cy="3525501"/>
          </a:xfrm>
          <a:custGeom>
            <a:avLst/>
            <a:gdLst/>
            <a:ahLst/>
            <a:cxnLst/>
            <a:rect r="r" b="b" t="t" l="l"/>
            <a:pathLst>
              <a:path h="3525501" w="7051002">
                <a:moveTo>
                  <a:pt x="0" y="0"/>
                </a:moveTo>
                <a:lnTo>
                  <a:pt x="7051002" y="0"/>
                </a:lnTo>
                <a:lnTo>
                  <a:pt x="7051002" y="3525501"/>
                </a:lnTo>
                <a:lnTo>
                  <a:pt x="0" y="35255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343669" y="6906251"/>
            <a:ext cx="7051002" cy="3525501"/>
          </a:xfrm>
          <a:custGeom>
            <a:avLst/>
            <a:gdLst/>
            <a:ahLst/>
            <a:cxnLst/>
            <a:rect r="r" b="b" t="t" l="l"/>
            <a:pathLst>
              <a:path h="3525501" w="7051002">
                <a:moveTo>
                  <a:pt x="0" y="0"/>
                </a:moveTo>
                <a:lnTo>
                  <a:pt x="7051002" y="0"/>
                </a:lnTo>
                <a:lnTo>
                  <a:pt x="7051002" y="3525501"/>
                </a:lnTo>
                <a:lnTo>
                  <a:pt x="0" y="35255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83606" y="3283739"/>
            <a:ext cx="10888749" cy="2895948"/>
          </a:xfrm>
          <a:custGeom>
            <a:avLst/>
            <a:gdLst/>
            <a:ahLst/>
            <a:cxnLst/>
            <a:rect r="r" b="b" t="t" l="l"/>
            <a:pathLst>
              <a:path h="2895948" w="10888749">
                <a:moveTo>
                  <a:pt x="0" y="0"/>
                </a:moveTo>
                <a:lnTo>
                  <a:pt x="10888749" y="0"/>
                </a:lnTo>
                <a:lnTo>
                  <a:pt x="10888749" y="2895948"/>
                </a:lnTo>
                <a:lnTo>
                  <a:pt x="0" y="28959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78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34054" y="7826729"/>
            <a:ext cx="10838300" cy="1723909"/>
          </a:xfrm>
          <a:custGeom>
            <a:avLst/>
            <a:gdLst/>
            <a:ahLst/>
            <a:cxnLst/>
            <a:rect r="r" b="b" t="t" l="l"/>
            <a:pathLst>
              <a:path h="1723909" w="10838300">
                <a:moveTo>
                  <a:pt x="0" y="0"/>
                </a:moveTo>
                <a:lnTo>
                  <a:pt x="10838301" y="0"/>
                </a:lnTo>
                <a:lnTo>
                  <a:pt x="10838301" y="1723909"/>
                </a:lnTo>
                <a:lnTo>
                  <a:pt x="0" y="17239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304" r="0" b="-230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79217" y="785323"/>
            <a:ext cx="9915533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NETOYAGE </a:t>
            </a: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 DONNEES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3606" y="2186388"/>
            <a:ext cx="6646886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Encodage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3606" y="6827387"/>
            <a:ext cx="6646886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Standarisation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467884" y="9648303"/>
            <a:ext cx="166241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8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03780" y="4375227"/>
            <a:ext cx="2280439" cy="4312887"/>
          </a:xfrm>
          <a:custGeom>
            <a:avLst/>
            <a:gdLst/>
            <a:ahLst/>
            <a:cxnLst/>
            <a:rect r="r" b="b" t="t" l="l"/>
            <a:pathLst>
              <a:path h="4312887" w="2280439">
                <a:moveTo>
                  <a:pt x="0" y="0"/>
                </a:moveTo>
                <a:lnTo>
                  <a:pt x="2280440" y="0"/>
                </a:lnTo>
                <a:lnTo>
                  <a:pt x="2280440" y="4312887"/>
                </a:lnTo>
                <a:lnTo>
                  <a:pt x="0" y="4312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0590" y="4917547"/>
            <a:ext cx="7626247" cy="3685428"/>
          </a:xfrm>
          <a:custGeom>
            <a:avLst/>
            <a:gdLst/>
            <a:ahLst/>
            <a:cxnLst/>
            <a:rect r="r" b="b" t="t" l="l"/>
            <a:pathLst>
              <a:path h="3685428" w="7626247">
                <a:moveTo>
                  <a:pt x="0" y="0"/>
                </a:moveTo>
                <a:lnTo>
                  <a:pt x="7626247" y="0"/>
                </a:lnTo>
                <a:lnTo>
                  <a:pt x="7626247" y="3685427"/>
                </a:lnTo>
                <a:lnTo>
                  <a:pt x="0" y="3685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7378" b="-7696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2688655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DIVISION TRAIN - TEST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9217" y="785323"/>
            <a:ext cx="12530355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STRATÉGIE D’ÉVALUATION DU MODÈLE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94021" y="2688655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METRIQUE D’EVALUATION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83884" y="3892247"/>
            <a:ext cx="6646886" cy="563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Accuracy (Précision Globale)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Precision (Valeur Prédictive Positive)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Recall (Sensibilité)</a:t>
            </a: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>
              <a:lnSpc>
                <a:spcPts val="3440"/>
              </a:lnSpc>
            </a:pPr>
          </a:p>
          <a:p>
            <a:pPr algn="l" marL="554305" indent="-277152" lvl="1">
              <a:lnSpc>
                <a:spcPts val="3440"/>
              </a:lnSpc>
              <a:buFont typeface="Arial"/>
              <a:buChar char="•"/>
            </a:pP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F</a:t>
            </a: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1-Score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63717" y="9648303"/>
            <a:ext cx="174575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9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8951" y="2565185"/>
            <a:ext cx="4516221" cy="989754"/>
            <a:chOff x="0" y="0"/>
            <a:chExt cx="1108760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8760" cy="242991"/>
            </a:xfrm>
            <a:custGeom>
              <a:avLst/>
              <a:gdLst/>
              <a:ahLst/>
              <a:cxnLst/>
              <a:rect r="r" b="b" t="t" l="l"/>
              <a:pathLst>
                <a:path h="242991" w="1108760">
                  <a:moveTo>
                    <a:pt x="121495" y="0"/>
                  </a:moveTo>
                  <a:lnTo>
                    <a:pt x="987264" y="0"/>
                  </a:lnTo>
                  <a:cubicBezTo>
                    <a:pt x="1019487" y="0"/>
                    <a:pt x="1050390" y="12800"/>
                    <a:pt x="1073175" y="35585"/>
                  </a:cubicBezTo>
                  <a:cubicBezTo>
                    <a:pt x="1095959" y="58370"/>
                    <a:pt x="1108760" y="89273"/>
                    <a:pt x="1108760" y="121495"/>
                  </a:cubicBezTo>
                  <a:lnTo>
                    <a:pt x="1108760" y="121495"/>
                  </a:lnTo>
                  <a:cubicBezTo>
                    <a:pt x="1108760" y="153718"/>
                    <a:pt x="1095959" y="184621"/>
                    <a:pt x="1073175" y="207406"/>
                  </a:cubicBezTo>
                  <a:cubicBezTo>
                    <a:pt x="1050390" y="230190"/>
                    <a:pt x="1019487" y="242991"/>
                    <a:pt x="987264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0876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951" y="2565185"/>
            <a:ext cx="1081897" cy="989754"/>
            <a:chOff x="0" y="0"/>
            <a:chExt cx="265612" cy="242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04151" y="2565185"/>
            <a:ext cx="4516221" cy="989754"/>
            <a:chOff x="0" y="0"/>
            <a:chExt cx="1108760" cy="242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8760" cy="242991"/>
            </a:xfrm>
            <a:custGeom>
              <a:avLst/>
              <a:gdLst/>
              <a:ahLst/>
              <a:cxnLst/>
              <a:rect r="r" b="b" t="t" l="l"/>
              <a:pathLst>
                <a:path h="242991" w="1108760">
                  <a:moveTo>
                    <a:pt x="121495" y="0"/>
                  </a:moveTo>
                  <a:lnTo>
                    <a:pt x="987264" y="0"/>
                  </a:lnTo>
                  <a:cubicBezTo>
                    <a:pt x="1019487" y="0"/>
                    <a:pt x="1050390" y="12800"/>
                    <a:pt x="1073175" y="35585"/>
                  </a:cubicBezTo>
                  <a:cubicBezTo>
                    <a:pt x="1095959" y="58370"/>
                    <a:pt x="1108760" y="89273"/>
                    <a:pt x="1108760" y="121495"/>
                  </a:cubicBezTo>
                  <a:lnTo>
                    <a:pt x="1108760" y="121495"/>
                  </a:lnTo>
                  <a:cubicBezTo>
                    <a:pt x="1108760" y="153718"/>
                    <a:pt x="1095959" y="184621"/>
                    <a:pt x="1073175" y="207406"/>
                  </a:cubicBezTo>
                  <a:cubicBezTo>
                    <a:pt x="1050390" y="230190"/>
                    <a:pt x="1019487" y="242991"/>
                    <a:pt x="987264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0876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04151" y="2565185"/>
            <a:ext cx="1081897" cy="989754"/>
            <a:chOff x="0" y="0"/>
            <a:chExt cx="265612" cy="242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73898" y="2512748"/>
            <a:ext cx="4636648" cy="989754"/>
            <a:chOff x="0" y="0"/>
            <a:chExt cx="1138325" cy="242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8325" cy="242991"/>
            </a:xfrm>
            <a:custGeom>
              <a:avLst/>
              <a:gdLst/>
              <a:ahLst/>
              <a:cxnLst/>
              <a:rect r="r" b="b" t="t" l="l"/>
              <a:pathLst>
                <a:path h="242991" w="1138325">
                  <a:moveTo>
                    <a:pt x="121495" y="0"/>
                  </a:moveTo>
                  <a:lnTo>
                    <a:pt x="1016830" y="0"/>
                  </a:lnTo>
                  <a:cubicBezTo>
                    <a:pt x="1049053" y="0"/>
                    <a:pt x="1079955" y="12800"/>
                    <a:pt x="1102740" y="35585"/>
                  </a:cubicBezTo>
                  <a:cubicBezTo>
                    <a:pt x="1125525" y="58370"/>
                    <a:pt x="1138325" y="89273"/>
                    <a:pt x="1138325" y="121495"/>
                  </a:cubicBezTo>
                  <a:lnTo>
                    <a:pt x="1138325" y="121495"/>
                  </a:lnTo>
                  <a:cubicBezTo>
                    <a:pt x="1138325" y="153718"/>
                    <a:pt x="1125525" y="184621"/>
                    <a:pt x="1102740" y="207406"/>
                  </a:cubicBezTo>
                  <a:cubicBezTo>
                    <a:pt x="1079955" y="230190"/>
                    <a:pt x="1049053" y="242991"/>
                    <a:pt x="1016830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138325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89350" y="2512748"/>
            <a:ext cx="1081897" cy="989754"/>
            <a:chOff x="0" y="0"/>
            <a:chExt cx="265612" cy="242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515976" y="6463583"/>
            <a:ext cx="2288175" cy="2794717"/>
          </a:xfrm>
          <a:custGeom>
            <a:avLst/>
            <a:gdLst/>
            <a:ahLst/>
            <a:cxnLst/>
            <a:rect r="r" b="b" t="t" l="l"/>
            <a:pathLst>
              <a:path h="2794717" w="2288175">
                <a:moveTo>
                  <a:pt x="0" y="0"/>
                </a:moveTo>
                <a:lnTo>
                  <a:pt x="2288175" y="0"/>
                </a:lnTo>
                <a:lnTo>
                  <a:pt x="2288175" y="2794717"/>
                </a:lnTo>
                <a:lnTo>
                  <a:pt x="0" y="2794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447914" y="6463583"/>
            <a:ext cx="2225984" cy="2794717"/>
          </a:xfrm>
          <a:custGeom>
            <a:avLst/>
            <a:gdLst/>
            <a:ahLst/>
            <a:cxnLst/>
            <a:rect r="r" b="b" t="t" l="l"/>
            <a:pathLst>
              <a:path h="2794717" w="2225984">
                <a:moveTo>
                  <a:pt x="0" y="0"/>
                </a:moveTo>
                <a:lnTo>
                  <a:pt x="2225984" y="0"/>
                </a:lnTo>
                <a:lnTo>
                  <a:pt x="2225984" y="2794717"/>
                </a:lnTo>
                <a:lnTo>
                  <a:pt x="0" y="2794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793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00848" y="2677600"/>
            <a:ext cx="2841930" cy="78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b="true" sz="256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REGRESSION LOGISTIQUE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3499" y="274033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59457" y="2657177"/>
            <a:ext cx="2173187" cy="813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</a:pPr>
            <a:r>
              <a:rPr lang="en-US" b="true" sz="256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RANDOM FOREST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88699" y="2740337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02.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42722" y="2771383"/>
            <a:ext cx="2777801" cy="4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8"/>
              </a:lnSpc>
            </a:pPr>
            <a:r>
              <a:rPr lang="en-US" b="true" sz="256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K-NN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73898" y="2687900"/>
            <a:ext cx="797349" cy="52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754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03.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9217" y="785323"/>
            <a:ext cx="14841672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EXEMPLES DE MODÈLES DE CLASSIFICATION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18757" y="5029200"/>
            <a:ext cx="3687008" cy="176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ACCURACY : 83.67%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PRECISION : 46.15%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RECALL : 12.77%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F1 : 20.00%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34907" y="5029200"/>
            <a:ext cx="3714631" cy="176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ACCURACY : 83.33%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PRECISION : 41.67%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RECALL : 10.64%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F1 : 16.95%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10697" y="5029200"/>
            <a:ext cx="3732729" cy="176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ACCURACY : 86.39%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PRECISION : 73.33%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RECALL : 23.40%</a:t>
            </a:r>
          </a:p>
          <a:p>
            <a:pPr algn="l" marL="527876" indent="-263938" lvl="1">
              <a:lnSpc>
                <a:spcPts val="3423"/>
              </a:lnSpc>
              <a:buFont typeface="Arial"/>
              <a:buChar char="•"/>
            </a:pPr>
            <a:r>
              <a:rPr lang="en-US" b="true" sz="24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F1 : 35.48%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388559" y="9648303"/>
            <a:ext cx="324892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10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57700" y="3448786"/>
            <a:ext cx="9000170" cy="5782609"/>
          </a:xfrm>
          <a:custGeom>
            <a:avLst/>
            <a:gdLst/>
            <a:ahLst/>
            <a:cxnLst/>
            <a:rect r="r" b="b" t="t" l="l"/>
            <a:pathLst>
              <a:path h="5782609" w="9000170">
                <a:moveTo>
                  <a:pt x="0" y="0"/>
                </a:moveTo>
                <a:lnTo>
                  <a:pt x="9000171" y="0"/>
                </a:lnTo>
                <a:lnTo>
                  <a:pt x="9000171" y="5782609"/>
                </a:lnTo>
                <a:lnTo>
                  <a:pt x="0" y="5782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376783"/>
            <a:ext cx="787570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K-NN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9217" y="785323"/>
            <a:ext cx="14841672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EXEMPLES DE MODÈLES DE 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89055" y="2743986"/>
            <a:ext cx="7670245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CHOIX DE L’HYPERPARAMÈTRE K : LA MÉTHODE DU COUDE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3552" y="4392920"/>
            <a:ext cx="6611485" cy="355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286" indent="-253143" lvl="1">
              <a:lnSpc>
                <a:spcPts val="5674"/>
              </a:lnSpc>
              <a:buFont typeface="Arial"/>
              <a:buChar char="•"/>
            </a:pPr>
            <a:r>
              <a:rPr lang="en-US" b="true" sz="23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 TROP PETIT (&lt;5) : </a:t>
            </a:r>
            <a:r>
              <a:rPr lang="en-US" sz="234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SURAPPRENTISSAGE (VARIANCE ÉLEVÉE), SENSIBLE AU BRUIT.</a:t>
            </a:r>
          </a:p>
          <a:p>
            <a:pPr algn="l" marL="506286" indent="-253143" lvl="1">
              <a:lnSpc>
                <a:spcPts val="5674"/>
              </a:lnSpc>
              <a:buFont typeface="Arial"/>
              <a:buChar char="•"/>
            </a:pPr>
            <a:r>
              <a:rPr lang="en-US" b="true" sz="23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 TROP GRAND (&gt;10) : </a:t>
            </a:r>
            <a:r>
              <a:rPr lang="en-US" sz="2345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SOUS-APPRENTISSAGE (BIAIS ÉLEVÉ), LISSE TROP LA FRONTIÈRE DE DÉCISION.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11552" y="9648303"/>
            <a:ext cx="278904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11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070709">
            <a:off x="-497624" y="188029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0709">
            <a:off x="14425694" y="6154422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864521"/>
            <a:ext cx="16495093" cy="8144452"/>
          </a:xfrm>
          <a:custGeom>
            <a:avLst/>
            <a:gdLst/>
            <a:ahLst/>
            <a:cxnLst/>
            <a:rect r="r" b="b" t="t" l="l"/>
            <a:pathLst>
              <a:path h="8144452" w="16495093">
                <a:moveTo>
                  <a:pt x="0" y="0"/>
                </a:moveTo>
                <a:lnTo>
                  <a:pt x="16495093" y="0"/>
                </a:lnTo>
                <a:lnTo>
                  <a:pt x="16495093" y="8144452"/>
                </a:lnTo>
                <a:lnTo>
                  <a:pt x="0" y="8144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6817" y="632923"/>
            <a:ext cx="15168525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ÉVAL</a:t>
            </a: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UATION COMPARATIVE DE DIX (10) MODELES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00911" y="9648303"/>
            <a:ext cx="300186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12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070709">
            <a:off x="-497624" y="188029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0709">
            <a:off x="14425694" y="6154422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6817" y="632923"/>
            <a:ext cx="15168525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MODELE IDEAL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63031" y="2426382"/>
            <a:ext cx="7761939" cy="1701071"/>
            <a:chOff x="0" y="0"/>
            <a:chExt cx="1108760" cy="242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8760" cy="242991"/>
            </a:xfrm>
            <a:custGeom>
              <a:avLst/>
              <a:gdLst/>
              <a:ahLst/>
              <a:cxnLst/>
              <a:rect r="r" b="b" t="t" l="l"/>
              <a:pathLst>
                <a:path h="242991" w="1108760">
                  <a:moveTo>
                    <a:pt x="99742" y="0"/>
                  </a:moveTo>
                  <a:lnTo>
                    <a:pt x="1009018" y="0"/>
                  </a:lnTo>
                  <a:cubicBezTo>
                    <a:pt x="1035471" y="0"/>
                    <a:pt x="1060841" y="10509"/>
                    <a:pt x="1079546" y="29214"/>
                  </a:cubicBezTo>
                  <a:cubicBezTo>
                    <a:pt x="1098251" y="47919"/>
                    <a:pt x="1108760" y="73289"/>
                    <a:pt x="1108760" y="99742"/>
                  </a:cubicBezTo>
                  <a:lnTo>
                    <a:pt x="1108760" y="143249"/>
                  </a:lnTo>
                  <a:cubicBezTo>
                    <a:pt x="1108760" y="169702"/>
                    <a:pt x="1098251" y="195072"/>
                    <a:pt x="1079546" y="213777"/>
                  </a:cubicBezTo>
                  <a:cubicBezTo>
                    <a:pt x="1060841" y="232482"/>
                    <a:pt x="1035471" y="242991"/>
                    <a:pt x="1009018" y="242991"/>
                  </a:cubicBezTo>
                  <a:lnTo>
                    <a:pt x="99742" y="242991"/>
                  </a:lnTo>
                  <a:cubicBezTo>
                    <a:pt x="73289" y="242991"/>
                    <a:pt x="47919" y="232482"/>
                    <a:pt x="29214" y="213777"/>
                  </a:cubicBezTo>
                  <a:cubicBezTo>
                    <a:pt x="10509" y="195072"/>
                    <a:pt x="0" y="169702"/>
                    <a:pt x="0" y="143249"/>
                  </a:cubicBezTo>
                  <a:lnTo>
                    <a:pt x="0" y="99742"/>
                  </a:lnTo>
                  <a:cubicBezTo>
                    <a:pt x="0" y="73289"/>
                    <a:pt x="10509" y="47919"/>
                    <a:pt x="29214" y="29214"/>
                  </a:cubicBezTo>
                  <a:cubicBezTo>
                    <a:pt x="47919" y="10509"/>
                    <a:pt x="73289" y="0"/>
                    <a:pt x="997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0876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024969" y="4970139"/>
            <a:ext cx="4710211" cy="4722080"/>
          </a:xfrm>
          <a:custGeom>
            <a:avLst/>
            <a:gdLst/>
            <a:ahLst/>
            <a:cxnLst/>
            <a:rect r="r" b="b" t="t" l="l"/>
            <a:pathLst>
              <a:path h="4722080" w="4710211">
                <a:moveTo>
                  <a:pt x="0" y="0"/>
                </a:moveTo>
                <a:lnTo>
                  <a:pt x="4710211" y="0"/>
                </a:lnTo>
                <a:lnTo>
                  <a:pt x="4710211" y="4722080"/>
                </a:lnTo>
                <a:lnTo>
                  <a:pt x="0" y="4722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421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01815" y="2569794"/>
            <a:ext cx="4884369" cy="133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7"/>
              </a:lnSpc>
            </a:pPr>
            <a:r>
              <a:rPr lang="en-US" b="true" sz="4412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REGRESSION LOGISTIQUE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4862" y="5137359"/>
            <a:ext cx="11200759" cy="41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5208" indent="-307604" lvl="1">
              <a:lnSpc>
                <a:spcPts val="5471"/>
              </a:lnSpc>
              <a:buFont typeface="Arial"/>
              <a:buChar char="•"/>
            </a:pPr>
            <a:r>
              <a:rPr lang="en-US" b="true" sz="284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PLUS HAUTE A</a:t>
            </a:r>
            <a:r>
              <a:rPr lang="en-US" b="true" sz="284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CCURACY DE TOUS LES MODÈLES (86.39%)</a:t>
            </a:r>
          </a:p>
          <a:p>
            <a:pPr algn="just" marL="615208" indent="-307604" lvl="1">
              <a:lnSpc>
                <a:spcPts val="5471"/>
              </a:lnSpc>
              <a:buFont typeface="Arial"/>
              <a:buChar char="•"/>
            </a:pPr>
            <a:r>
              <a:rPr lang="en-US" b="true" sz="284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EXCELLENTE PRECISION (73.33%) - PEU DE FAUSSES ALARMES</a:t>
            </a:r>
          </a:p>
          <a:p>
            <a:pPr algn="just" marL="615208" indent="-307604" lvl="1">
              <a:lnSpc>
                <a:spcPts val="5471"/>
              </a:lnSpc>
              <a:buFont typeface="Arial"/>
              <a:buChar char="•"/>
            </a:pPr>
            <a:r>
              <a:rPr lang="en-US" b="true" sz="284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INTERPRÉTABLE : COEFFICIENTS INDIQUENT L’INFLUENCE DE CHAQUE VARIABLE</a:t>
            </a:r>
          </a:p>
          <a:p>
            <a:pPr algn="just" marL="615208" indent="-307604" lvl="1">
              <a:lnSpc>
                <a:spcPts val="5471"/>
              </a:lnSpc>
              <a:buFont typeface="Arial"/>
              <a:buChar char="•"/>
            </a:pPr>
            <a:r>
              <a:rPr lang="en-US" b="true" sz="284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RAPIDE À ENTRAÎNER ET PRÉDIRE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00093" y="9648303"/>
            <a:ext cx="301823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13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070709">
            <a:off x="16206815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0709">
            <a:off x="2434110" y="7619478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47656" y="2409667"/>
            <a:ext cx="9654633" cy="5563482"/>
          </a:xfrm>
          <a:custGeom>
            <a:avLst/>
            <a:gdLst/>
            <a:ahLst/>
            <a:cxnLst/>
            <a:rect r="r" b="b" t="t" l="l"/>
            <a:pathLst>
              <a:path h="5563482" w="9654633">
                <a:moveTo>
                  <a:pt x="0" y="0"/>
                </a:moveTo>
                <a:lnTo>
                  <a:pt x="9654632" y="0"/>
                </a:lnTo>
                <a:lnTo>
                  <a:pt x="9654632" y="5563482"/>
                </a:lnTo>
                <a:lnTo>
                  <a:pt x="0" y="55634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6817" y="632923"/>
            <a:ext cx="15168525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 GÉNÉRALE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99721" y="9648303"/>
            <a:ext cx="302568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665" y="3068002"/>
            <a:ext cx="7799991" cy="385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24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CA</a:t>
            </a: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USES: OVERTIME | SALAIRE BAS | FAIBLE ANCIENNETÉ</a:t>
            </a:r>
          </a:p>
          <a:p>
            <a:pPr algn="ctr">
              <a:lnSpc>
                <a:spcPts val="2496"/>
              </a:lnSpc>
              <a:spcBef>
                <a:spcPct val="0"/>
              </a:spcBef>
            </a:pPr>
          </a:p>
          <a:p>
            <a:pPr algn="ctr">
              <a:lnSpc>
                <a:spcPts val="2496"/>
              </a:lnSpc>
              <a:spcBef>
                <a:spcPct val="0"/>
              </a:spcBef>
            </a:pPr>
          </a:p>
          <a:p>
            <a:pPr algn="ctr">
              <a:lnSpc>
                <a:spcPts val="2496"/>
              </a:lnSpc>
              <a:spcBef>
                <a:spcPct val="0"/>
              </a:spcBef>
            </a:pPr>
          </a:p>
          <a:p>
            <a:pPr algn="ctr" marL="518160" indent="-259080" lvl="1">
              <a:lnSpc>
                <a:spcPts val="24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SOLUTIONS: LIMITER OVERTIME | REVOIR SALAIRES | ACCOMPAGNEMENT</a:t>
            </a:r>
          </a:p>
          <a:p>
            <a:pPr algn="ctr">
              <a:lnSpc>
                <a:spcPts val="2496"/>
              </a:lnSpc>
              <a:spcBef>
                <a:spcPct val="0"/>
              </a:spcBef>
            </a:pPr>
          </a:p>
          <a:p>
            <a:pPr algn="ctr">
              <a:lnSpc>
                <a:spcPts val="2496"/>
              </a:lnSpc>
              <a:spcBef>
                <a:spcPct val="0"/>
              </a:spcBef>
            </a:pPr>
          </a:p>
          <a:p>
            <a:pPr algn="ctr">
              <a:lnSpc>
                <a:spcPts val="2496"/>
              </a:lnSpc>
              <a:spcBef>
                <a:spcPct val="0"/>
              </a:spcBef>
            </a:pPr>
          </a:p>
          <a:p>
            <a:pPr algn="ctr" marL="518160" indent="-259080" lvl="1">
              <a:lnSpc>
                <a:spcPts val="24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MODÈLE: VOTING CLASSIFIER (87.07%)</a:t>
            </a:r>
          </a:p>
          <a:p>
            <a:pPr algn="ctr">
              <a:lnSpc>
                <a:spcPts val="2496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221579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070709">
            <a:off x="-497624" y="188029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0709">
            <a:off x="14425694" y="6154422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6817" y="632923"/>
            <a:ext cx="15168525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GUI - INTERFACE UTILISATEUR GRAPHIQUE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8945" y="4873385"/>
            <a:ext cx="13310110" cy="106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9"/>
              </a:lnSpc>
            </a:pPr>
            <a:r>
              <a:rPr lang="en-US" b="true" sz="4286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SIMULATION DE APPLICATION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98679" y="9648303"/>
            <a:ext cx="304651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15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8578" y="-1201787"/>
            <a:ext cx="13008829" cy="130088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0"/>
                  </a:srgbClr>
                </a:gs>
                <a:gs pos="100000">
                  <a:srgbClr val="FFFFFF">
                    <a:alpha val="77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12088" y="384135"/>
            <a:ext cx="7683898" cy="9518730"/>
          </a:xfrm>
          <a:custGeom>
            <a:avLst/>
            <a:gdLst/>
            <a:ahLst/>
            <a:cxnLst/>
            <a:rect r="r" b="b" t="t" l="l"/>
            <a:pathLst>
              <a:path h="9518730" w="7683898">
                <a:moveTo>
                  <a:pt x="0" y="0"/>
                </a:moveTo>
                <a:lnTo>
                  <a:pt x="7683898" y="0"/>
                </a:lnTo>
                <a:lnTo>
                  <a:pt x="7683898" y="9518730"/>
                </a:lnTo>
                <a:lnTo>
                  <a:pt x="0" y="9518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0998" y="3135284"/>
            <a:ext cx="5881764" cy="424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5552" y="845998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2630" y="9085291"/>
            <a:ext cx="5378501" cy="26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  <a:spcBef>
                <a:spcPct val="0"/>
              </a:spcBef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ENSA - KENITRA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98670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0" y="0"/>
                </a:moveTo>
                <a:lnTo>
                  <a:pt x="3590163" y="0"/>
                </a:lnTo>
                <a:lnTo>
                  <a:pt x="359016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2828936"/>
            <a:ext cx="3590163" cy="8229600"/>
          </a:xfrm>
          <a:custGeom>
            <a:avLst/>
            <a:gdLst/>
            <a:ahLst/>
            <a:cxnLst/>
            <a:rect r="r" b="b" t="t" l="l"/>
            <a:pathLst>
              <a:path h="8229600" w="3590163">
                <a:moveTo>
                  <a:pt x="3590163" y="0"/>
                </a:moveTo>
                <a:lnTo>
                  <a:pt x="0" y="0"/>
                </a:lnTo>
                <a:lnTo>
                  <a:pt x="0" y="8229600"/>
                </a:lnTo>
                <a:lnTo>
                  <a:pt x="3590163" y="8229600"/>
                </a:lnTo>
                <a:lnTo>
                  <a:pt x="3590163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95082" y="2752542"/>
            <a:ext cx="14749955" cy="299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5"/>
              </a:lnSpc>
            </a:pPr>
            <a:r>
              <a:rPr lang="en-US" sz="111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PREDICTION DE L’ATRITION DES EMPLOYEES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3357" y="1000125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PYTHON AVANCE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40436" y="9239250"/>
            <a:ext cx="5378501" cy="26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  <a:spcBef>
                <a:spcPct val="0"/>
              </a:spcBef>
            </a:pPr>
            <a:r>
              <a:rPr lang="en-US" b="true" sz="16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ENSA - KENITRA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01492" y="6943736"/>
            <a:ext cx="4482806" cy="741705"/>
            <a:chOff x="0" y="0"/>
            <a:chExt cx="1100556" cy="1820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0556" cy="182093"/>
            </a:xfrm>
            <a:custGeom>
              <a:avLst/>
              <a:gdLst/>
              <a:ahLst/>
              <a:cxnLst/>
              <a:rect r="r" b="b" t="t" l="l"/>
              <a:pathLst>
                <a:path h="182093" w="1100556">
                  <a:moveTo>
                    <a:pt x="91047" y="0"/>
                  </a:moveTo>
                  <a:lnTo>
                    <a:pt x="1009510" y="0"/>
                  </a:lnTo>
                  <a:cubicBezTo>
                    <a:pt x="1059793" y="0"/>
                    <a:pt x="1100556" y="40763"/>
                    <a:pt x="1100556" y="91047"/>
                  </a:cubicBezTo>
                  <a:lnTo>
                    <a:pt x="1100556" y="91047"/>
                  </a:lnTo>
                  <a:cubicBezTo>
                    <a:pt x="1100556" y="141330"/>
                    <a:pt x="1059793" y="182093"/>
                    <a:pt x="1009510" y="182093"/>
                  </a:cubicBezTo>
                  <a:lnTo>
                    <a:pt x="91047" y="182093"/>
                  </a:lnTo>
                  <a:cubicBezTo>
                    <a:pt x="40763" y="182093"/>
                    <a:pt x="0" y="141330"/>
                    <a:pt x="0" y="91047"/>
                  </a:cubicBezTo>
                  <a:lnTo>
                    <a:pt x="0" y="91047"/>
                  </a:lnTo>
                  <a:cubicBezTo>
                    <a:pt x="0" y="40763"/>
                    <a:pt x="40763" y="0"/>
                    <a:pt x="910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00556" cy="21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MUSTAPHA MELLAKI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01492" y="7923566"/>
            <a:ext cx="4482806" cy="741705"/>
            <a:chOff x="0" y="0"/>
            <a:chExt cx="1100556" cy="1820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0556" cy="182093"/>
            </a:xfrm>
            <a:custGeom>
              <a:avLst/>
              <a:gdLst/>
              <a:ahLst/>
              <a:cxnLst/>
              <a:rect r="r" b="b" t="t" l="l"/>
              <a:pathLst>
                <a:path h="182093" w="1100556">
                  <a:moveTo>
                    <a:pt x="91047" y="0"/>
                  </a:moveTo>
                  <a:lnTo>
                    <a:pt x="1009510" y="0"/>
                  </a:lnTo>
                  <a:cubicBezTo>
                    <a:pt x="1059793" y="0"/>
                    <a:pt x="1100556" y="40763"/>
                    <a:pt x="1100556" y="91047"/>
                  </a:cubicBezTo>
                  <a:lnTo>
                    <a:pt x="1100556" y="91047"/>
                  </a:lnTo>
                  <a:cubicBezTo>
                    <a:pt x="1100556" y="141330"/>
                    <a:pt x="1059793" y="182093"/>
                    <a:pt x="1009510" y="182093"/>
                  </a:cubicBezTo>
                  <a:lnTo>
                    <a:pt x="91047" y="182093"/>
                  </a:lnTo>
                  <a:cubicBezTo>
                    <a:pt x="40763" y="182093"/>
                    <a:pt x="0" y="141330"/>
                    <a:pt x="0" y="91047"/>
                  </a:cubicBezTo>
                  <a:lnTo>
                    <a:pt x="0" y="91047"/>
                  </a:lnTo>
                  <a:cubicBezTo>
                    <a:pt x="0" y="40763"/>
                    <a:pt x="40763" y="0"/>
                    <a:pt x="910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100556" cy="21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MEHDI BAHI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35066" y="7314589"/>
            <a:ext cx="4482806" cy="741705"/>
            <a:chOff x="0" y="0"/>
            <a:chExt cx="1100556" cy="1820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0556" cy="182093"/>
            </a:xfrm>
            <a:custGeom>
              <a:avLst/>
              <a:gdLst/>
              <a:ahLst/>
              <a:cxnLst/>
              <a:rect r="r" b="b" t="t" l="l"/>
              <a:pathLst>
                <a:path h="182093" w="1100556">
                  <a:moveTo>
                    <a:pt x="91047" y="0"/>
                  </a:moveTo>
                  <a:lnTo>
                    <a:pt x="1009510" y="0"/>
                  </a:lnTo>
                  <a:cubicBezTo>
                    <a:pt x="1059793" y="0"/>
                    <a:pt x="1100556" y="40763"/>
                    <a:pt x="1100556" y="91047"/>
                  </a:cubicBezTo>
                  <a:lnTo>
                    <a:pt x="1100556" y="91047"/>
                  </a:lnTo>
                  <a:cubicBezTo>
                    <a:pt x="1100556" y="141330"/>
                    <a:pt x="1059793" y="182093"/>
                    <a:pt x="1009510" y="182093"/>
                  </a:cubicBezTo>
                  <a:lnTo>
                    <a:pt x="91047" y="182093"/>
                  </a:lnTo>
                  <a:cubicBezTo>
                    <a:pt x="40763" y="182093"/>
                    <a:pt x="0" y="141330"/>
                    <a:pt x="0" y="91047"/>
                  </a:cubicBezTo>
                  <a:lnTo>
                    <a:pt x="0" y="91047"/>
                  </a:lnTo>
                  <a:cubicBezTo>
                    <a:pt x="0" y="40763"/>
                    <a:pt x="40763" y="0"/>
                    <a:pt x="910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100556" cy="210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  <a:r>
                <a:rPr lang="en-US" b="true" sz="2045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PROF. D. BENJBARA CHAIMAE 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DAG86MOSa6E</dc:identifier>
  <dcterms:modified xsi:type="dcterms:W3CDTF">2011-08-01T06:04:30Z</dcterms:modified>
  <cp:revision>1</cp:revision>
  <dc:title>Blue Futuristic Artificial Intelligence Presentation</dc:title>
</cp:coreProperties>
</file>